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we take ONE real ticket and walk it through the entire lifecycle. Each skill's output becomes the next skill's input — the way work actually 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pain is not any single stage — it's the handoffs and the inconsistency. Skills make each stage's routine work 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line: grounded in your repo, and guardrails not autopilot. Plugins are bundles of skills + connectors (Jira, GitHub, CI) an org installs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stages, twelve skills. Security and testing cluster as the quality gate before release. This is the map; the next slide is the story that connects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Spine of the live demo. The RCA at step 10 ties an incident back to a check that steps 6-9 are designed to catch. Red circles mark the security and operations gates.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convincing slide for engineers: the 'below zero' gap it surfaces here is exactly the class of bug that later causes the INC-207 incident.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the fear in the room: this is not autopilot. Every generative step is paired with a review step, and a human makes the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high-leverage customization is the standards file — that's what turns a generic reviewer into one that enforces YOUR conventions.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call to action: pick one real ticket in your next sprint and run it through the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3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ai-sdlc-demo/assets/boyd-titl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root/ai-sdlc-demo/assets/boyd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566928"/>
            <a:ext cx="2962656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017520" y="443484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across the software lifecycle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3017520" y="57150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SDLC Skills Demo   |   Software Development Team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ai-sdlc-demo/assets/boyd-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399032"/>
          </a:xfrm>
          <a:prstGeom prst="rect">
            <a:avLst/>
          </a:prstGeom>
        </p:spPr>
      </p:pic>
      <p:pic>
        <p:nvPicPr>
          <p:cNvPr id="3" name="Image 1" descr="/root/ai-sdlc-demo/assets/boyd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27648"/>
            <a:ext cx="1371600" cy="34747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430000" y="635508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5361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5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lifecycle is a chain of handoffs</a:t>
            </a:r>
            <a:endParaRPr lang="en-US" sz="31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194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→ design → build → review → test → release → operate. Every handoff is where clarity, consistency, and quality leak out — and where the same checklist gets applied unevenly, or skipped under deadline.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48640" y="3063240"/>
            <a:ext cx="3511296" cy="22860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41248" y="3264408"/>
            <a:ext cx="29626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5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000" dirty="0"/>
          </a:p>
        </p:txBody>
      </p:sp>
      <p:sp>
        <p:nvSpPr>
          <p:cNvPr id="9" name="Text 5"/>
          <p:cNvSpPr txBox="1"/>
          <p:nvPr/>
        </p:nvSpPr>
        <p:spPr>
          <a:xfrm>
            <a:off x="859536" y="443484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activities, one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assistant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334256" y="3063240"/>
            <a:ext cx="3511296" cy="22860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626864" y="3264408"/>
            <a:ext cx="29626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5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12" name="Text 8"/>
          <p:cNvSpPr txBox="1"/>
          <p:nvPr/>
        </p:nvSpPr>
        <p:spPr>
          <a:xfrm>
            <a:off x="4645152" y="443484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carried end to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in this demo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119872" y="3063240"/>
            <a:ext cx="3511296" cy="22860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412480" y="3264408"/>
            <a:ext cx="29626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E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15" name="Text 11"/>
          <p:cNvSpPr txBox="1"/>
          <p:nvPr/>
        </p:nvSpPr>
        <p:spPr>
          <a:xfrm>
            <a:off x="8430768" y="443484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skipped — each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produces an artifact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5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don't replace your judgment — they make the routine parts of every stage fast, consistent, and reviewable.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ai-sdlc-demo/assets/boyd-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399032"/>
          </a:xfrm>
          <a:prstGeom prst="rect">
            <a:avLst/>
          </a:prstGeom>
        </p:spPr>
      </p:pic>
      <p:pic>
        <p:nvPicPr>
          <p:cNvPr id="3" name="Image 1" descr="/root/ai-sdlc-demo/assets/boyd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27648"/>
            <a:ext cx="1371600" cy="34747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430000" y="635508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5361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5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“skill”?</a:t>
            </a:r>
            <a:endParaRPr lang="en-US" sz="31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194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packaged set of instructions for one kind of task. You invoke it by name — like /code-review — and Claude follows that playbook against your real repo.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640080" y="2880360"/>
            <a:ext cx="548640" cy="548640"/>
          </a:xfrm>
          <a:prstGeom prst="ellipse">
            <a:avLst/>
          </a:prstGeom>
          <a:solidFill>
            <a:srgbClr val="00539B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4008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1417320" y="2834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5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Invoked by name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166360" y="283464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/analyze-requirement, /generate-code, /security-review. Twelve of them, one per SDLC activity.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3721608"/>
            <a:ext cx="548640" cy="548640"/>
          </a:xfrm>
          <a:prstGeom prst="ellipse">
            <a:avLst/>
          </a:prstGeom>
          <a:solidFill>
            <a:srgbClr val="00539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4008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1417320" y="36758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5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your repo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5166360" y="367588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inspect the actual code, tests, and config first — output is specific to this project, not generic.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40080" y="4562856"/>
            <a:ext cx="548640" cy="548640"/>
          </a:xfrm>
          <a:prstGeom prst="ellipse">
            <a:avLst/>
          </a:prstGeom>
          <a:solidFill>
            <a:srgbClr val="00539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40080" y="4562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1417320" y="451713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5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Guardrails, not autopilot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5166360" y="4517136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separate facts from assumptions, keep a human in the review seat, and never deploy or expose secrets.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40080" y="5404104"/>
            <a:ext cx="548640" cy="548640"/>
          </a:xfrm>
          <a:prstGeom prst="ellipse">
            <a:avLst/>
          </a:prstGeom>
          <a:solidFill>
            <a:srgbClr val="00539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40080" y="5404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1417320" y="535838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5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Yours to govern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5166360" y="5358384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as a versioned pack in a shared repo; customize with Boyd standards. Plugins bundle skills + connectors together.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ai-sdlc-demo/assets/boyd-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399032"/>
          </a:xfrm>
          <a:prstGeom prst="rect">
            <a:avLst/>
          </a:prstGeom>
        </p:spPr>
      </p:pic>
      <p:pic>
        <p:nvPicPr>
          <p:cNvPr id="3" name="Image 1" descr="/root/ai-sdlc-demo/assets/boyd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27648"/>
            <a:ext cx="1371600" cy="34747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430000" y="635508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5361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5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skills, mapped to the lifecycle</a:t>
            </a:r>
            <a:endParaRPr lang="en-US" sz="3100" dirty="0"/>
          </a:p>
        </p:txBody>
      </p:sp>
      <p:sp>
        <p:nvSpPr>
          <p:cNvPr id="6" name="Shape 2"/>
          <p:cNvSpPr/>
          <p:nvPr/>
        </p:nvSpPr>
        <p:spPr>
          <a:xfrm>
            <a:off x="548640" y="2331720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EEF3F8"/>
          </a:solidFill>
          <a:ln w="12700">
            <a:solidFill>
              <a:srgbClr val="D3E0E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86384" y="25146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786384" y="2916936"/>
            <a:ext cx="3054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005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/analyze-requirement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005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/create-user-story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4334256" y="2331720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EEF3F8"/>
          </a:solidFill>
          <a:ln w="12700">
            <a:solidFill>
              <a:srgbClr val="D3E0E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0" y="25146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0" y="2916936"/>
            <a:ext cx="3054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005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/generate-technical-design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005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/architecture-review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119872" y="2331720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EEF3F8"/>
          </a:solidFill>
          <a:ln w="12700">
            <a:solidFill>
              <a:srgbClr val="D3E0E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357616" y="25146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357616" y="2916936"/>
            <a:ext cx="3054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005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/generate-code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005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/code-review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EEF3F8"/>
          </a:solidFill>
          <a:ln w="12700">
            <a:solidFill>
              <a:srgbClr val="D3E0E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86384" y="45720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TEST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86384" y="4974336"/>
            <a:ext cx="3054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005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/security-review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005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/generate-unit-tests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005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/generate-test-cases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4334256" y="4389120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EEF3F8"/>
          </a:solidFill>
          <a:ln w="12700">
            <a:solidFill>
              <a:srgbClr val="D3E0E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72000" y="45720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0" y="4974336"/>
            <a:ext cx="3054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005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/root-cause-analysis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8119872" y="4389120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EEF3F8"/>
          </a:solidFill>
          <a:ln w="12700">
            <a:solidFill>
              <a:srgbClr val="D3E0E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357616" y="45720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&amp; DOCUMENT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8357616" y="4974336"/>
            <a:ext cx="3054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005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/generate-documentation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005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/release-readiness-review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ai-sdlc-demo/assets/boyd-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399032"/>
          </a:xfrm>
          <a:prstGeom prst="rect">
            <a:avLst/>
          </a:prstGeom>
        </p:spPr>
      </p:pic>
      <p:pic>
        <p:nvPicPr>
          <p:cNvPr id="3" name="Image 1" descr="/root/ai-sdlc-demo/assets/boyd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27648"/>
            <a:ext cx="1371600" cy="34747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430000" y="635508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5361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5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demo: one ticket, PROJ-142</a:t>
            </a:r>
            <a:endParaRPr lang="en-US" sz="31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194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“Apply a discount code at order placement.”  Each step's output feeds the next.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48640" y="2761488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/>
        </p:spPr>
      </p:sp>
      <p:sp>
        <p:nvSpPr>
          <p:cNvPr id="8" name="Shape 4"/>
          <p:cNvSpPr/>
          <p:nvPr/>
        </p:nvSpPr>
        <p:spPr>
          <a:xfrm>
            <a:off x="694944" y="3072384"/>
            <a:ext cx="457200" cy="457200"/>
          </a:xfrm>
          <a:prstGeom prst="ellipse">
            <a:avLst/>
          </a:prstGeom>
          <a:solidFill>
            <a:srgbClr val="00539B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94944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225296" y="285292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/analyze-requirement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374136" y="2761488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/>
        </p:spPr>
      </p:sp>
      <p:sp>
        <p:nvSpPr>
          <p:cNvPr id="12" name="Shape 8"/>
          <p:cNvSpPr/>
          <p:nvPr/>
        </p:nvSpPr>
        <p:spPr>
          <a:xfrm>
            <a:off x="3520440" y="3072384"/>
            <a:ext cx="457200" cy="457200"/>
          </a:xfrm>
          <a:prstGeom prst="ellipse">
            <a:avLst/>
          </a:prstGeom>
          <a:solidFill>
            <a:srgbClr val="00539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52044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050792" y="285292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/create-user-story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99632" y="2761488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/>
        </p:spPr>
      </p:sp>
      <p:sp>
        <p:nvSpPr>
          <p:cNvPr id="16" name="Shape 12"/>
          <p:cNvSpPr/>
          <p:nvPr/>
        </p:nvSpPr>
        <p:spPr>
          <a:xfrm>
            <a:off x="6345936" y="3072384"/>
            <a:ext cx="457200" cy="457200"/>
          </a:xfrm>
          <a:prstGeom prst="ellipse">
            <a:avLst/>
          </a:prstGeom>
          <a:solidFill>
            <a:srgbClr val="00539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345936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876288" y="285292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/generate-technical-design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9025128" y="2761488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/>
        </p:spPr>
      </p:sp>
      <p:sp>
        <p:nvSpPr>
          <p:cNvPr id="20" name="Shape 16"/>
          <p:cNvSpPr/>
          <p:nvPr/>
        </p:nvSpPr>
        <p:spPr>
          <a:xfrm>
            <a:off x="9171432" y="3072384"/>
            <a:ext cx="457200" cy="457200"/>
          </a:xfrm>
          <a:prstGeom prst="ellipse">
            <a:avLst/>
          </a:prstGeom>
          <a:solidFill>
            <a:srgbClr val="00539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9171432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9701784" y="285292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/architecture-review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48640" y="3867912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/>
        </p:spPr>
      </p:sp>
      <p:sp>
        <p:nvSpPr>
          <p:cNvPr id="24" name="Shape 20"/>
          <p:cNvSpPr/>
          <p:nvPr/>
        </p:nvSpPr>
        <p:spPr>
          <a:xfrm>
            <a:off x="694944" y="4178808"/>
            <a:ext cx="457200" cy="457200"/>
          </a:xfrm>
          <a:prstGeom prst="ellipse">
            <a:avLst/>
          </a:prstGeom>
          <a:solidFill>
            <a:srgbClr val="00539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94944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1225296" y="395935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/generate-code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3374136" y="3867912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/>
        </p:spPr>
      </p:sp>
      <p:sp>
        <p:nvSpPr>
          <p:cNvPr id="28" name="Shape 24"/>
          <p:cNvSpPr/>
          <p:nvPr/>
        </p:nvSpPr>
        <p:spPr>
          <a:xfrm>
            <a:off x="3520440" y="4178808"/>
            <a:ext cx="457200" cy="457200"/>
          </a:xfrm>
          <a:prstGeom prst="ellipse">
            <a:avLst/>
          </a:prstGeom>
          <a:solidFill>
            <a:srgbClr val="00539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352044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4050792" y="395935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/code-review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199632" y="3867912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/>
        </p:spPr>
      </p:sp>
      <p:sp>
        <p:nvSpPr>
          <p:cNvPr id="32" name="Shape 28"/>
          <p:cNvSpPr/>
          <p:nvPr/>
        </p:nvSpPr>
        <p:spPr>
          <a:xfrm>
            <a:off x="6345936" y="4178808"/>
            <a:ext cx="457200" cy="457200"/>
          </a:xfrm>
          <a:prstGeom prst="ellipse">
            <a:avLst/>
          </a:prstGeom>
          <a:solidFill>
            <a:srgbClr val="EE3524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6345936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6876288" y="395935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/security-review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9025128" y="3867912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/>
        </p:spPr>
      </p:sp>
      <p:sp>
        <p:nvSpPr>
          <p:cNvPr id="36" name="Shape 32"/>
          <p:cNvSpPr/>
          <p:nvPr/>
        </p:nvSpPr>
        <p:spPr>
          <a:xfrm>
            <a:off x="9171432" y="4178808"/>
            <a:ext cx="457200" cy="457200"/>
          </a:xfrm>
          <a:prstGeom prst="ellipse">
            <a:avLst/>
          </a:prstGeom>
          <a:solidFill>
            <a:srgbClr val="00539B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9171432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9701784" y="395935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/generate-unit-tests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548640" y="4974336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/>
        </p:spPr>
      </p:sp>
      <p:sp>
        <p:nvSpPr>
          <p:cNvPr id="40" name="Shape 36"/>
          <p:cNvSpPr/>
          <p:nvPr/>
        </p:nvSpPr>
        <p:spPr>
          <a:xfrm>
            <a:off x="694944" y="5285232"/>
            <a:ext cx="457200" cy="457200"/>
          </a:xfrm>
          <a:prstGeom prst="ellipse">
            <a:avLst/>
          </a:prstGeom>
          <a:solidFill>
            <a:srgbClr val="00539B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694944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42" name="Text 38"/>
          <p:cNvSpPr txBox="1"/>
          <p:nvPr/>
        </p:nvSpPr>
        <p:spPr>
          <a:xfrm>
            <a:off x="1225296" y="506577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/generate-test-cases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3374136" y="4974336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/>
        </p:spPr>
      </p:sp>
      <p:sp>
        <p:nvSpPr>
          <p:cNvPr id="44" name="Shape 40"/>
          <p:cNvSpPr/>
          <p:nvPr/>
        </p:nvSpPr>
        <p:spPr>
          <a:xfrm>
            <a:off x="3520440" y="5285232"/>
            <a:ext cx="457200" cy="457200"/>
          </a:xfrm>
          <a:prstGeom prst="ellipse">
            <a:avLst/>
          </a:prstGeom>
          <a:solidFill>
            <a:srgbClr val="EE3524"/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3520440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46" name="Text 42"/>
          <p:cNvSpPr txBox="1"/>
          <p:nvPr/>
        </p:nvSpPr>
        <p:spPr>
          <a:xfrm>
            <a:off x="4050792" y="506577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/root-cause-analysis</a:t>
            </a:r>
            <a:endParaRPr lang="en-US" sz="1150" dirty="0"/>
          </a:p>
        </p:txBody>
      </p:sp>
      <p:sp>
        <p:nvSpPr>
          <p:cNvPr id="47" name="Shape 43"/>
          <p:cNvSpPr/>
          <p:nvPr/>
        </p:nvSpPr>
        <p:spPr>
          <a:xfrm>
            <a:off x="6199632" y="4974336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/>
        </p:spPr>
      </p:sp>
      <p:sp>
        <p:nvSpPr>
          <p:cNvPr id="48" name="Shape 44"/>
          <p:cNvSpPr/>
          <p:nvPr/>
        </p:nvSpPr>
        <p:spPr>
          <a:xfrm>
            <a:off x="6345936" y="5285232"/>
            <a:ext cx="457200" cy="457200"/>
          </a:xfrm>
          <a:prstGeom prst="ellipse">
            <a:avLst/>
          </a:prstGeom>
          <a:solidFill>
            <a:srgbClr val="00539B"/>
          </a:solidFill>
          <a:ln/>
        </p:spPr>
      </p:sp>
      <p:sp>
        <p:nvSpPr>
          <p:cNvPr id="49" name="Text 45"/>
          <p:cNvSpPr txBox="1"/>
          <p:nvPr/>
        </p:nvSpPr>
        <p:spPr>
          <a:xfrm>
            <a:off x="6345936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50" name="Text 46"/>
          <p:cNvSpPr txBox="1"/>
          <p:nvPr/>
        </p:nvSpPr>
        <p:spPr>
          <a:xfrm>
            <a:off x="6876288" y="506577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/generate-documentation</a:t>
            </a:r>
            <a:endParaRPr lang="en-US" sz="1150" dirty="0"/>
          </a:p>
        </p:txBody>
      </p:sp>
      <p:sp>
        <p:nvSpPr>
          <p:cNvPr id="51" name="Shape 47"/>
          <p:cNvSpPr/>
          <p:nvPr/>
        </p:nvSpPr>
        <p:spPr>
          <a:xfrm>
            <a:off x="9025128" y="4974336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/>
        </p:spPr>
      </p:sp>
      <p:sp>
        <p:nvSpPr>
          <p:cNvPr id="52" name="Shape 48"/>
          <p:cNvSpPr/>
          <p:nvPr/>
        </p:nvSpPr>
        <p:spPr>
          <a:xfrm>
            <a:off x="9171432" y="5285232"/>
            <a:ext cx="457200" cy="457200"/>
          </a:xfrm>
          <a:prstGeom prst="ellipse">
            <a:avLst/>
          </a:prstGeom>
          <a:solidFill>
            <a:srgbClr val="00539B"/>
          </a:solidFill>
          <a:ln/>
        </p:spPr>
      </p:sp>
      <p:sp>
        <p:nvSpPr>
          <p:cNvPr id="53" name="Text 49"/>
          <p:cNvSpPr txBox="1"/>
          <p:nvPr/>
        </p:nvSpPr>
        <p:spPr>
          <a:xfrm>
            <a:off x="9171432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300" dirty="0"/>
          </a:p>
        </p:txBody>
      </p:sp>
      <p:sp>
        <p:nvSpPr>
          <p:cNvPr id="54" name="Text 50"/>
          <p:cNvSpPr txBox="1"/>
          <p:nvPr/>
        </p:nvSpPr>
        <p:spPr>
          <a:xfrm>
            <a:off x="9701784" y="506577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/release-readiness-review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ai-sdlc-demo/assets/boyd-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399032"/>
          </a:xfrm>
          <a:prstGeom prst="rect">
            <a:avLst/>
          </a:prstGeom>
        </p:spPr>
      </p:pic>
      <p:pic>
        <p:nvPicPr>
          <p:cNvPr id="3" name="Image 1" descr="/root/ai-sdlc-demo/assets/boyd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27648"/>
            <a:ext cx="1371600" cy="34747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430000" y="635508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5361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5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skill actually produces</a:t>
            </a:r>
            <a:endParaRPr lang="en-US" sz="31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194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/analyze-requirement on the rough PROJ-142 ticket — it refuses to guess, and separates what's known from what isn't.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48640" y="2834640"/>
            <a:ext cx="5257800" cy="3017520"/>
          </a:xfrm>
          <a:prstGeom prst="roundRect">
            <a:avLst>
              <a:gd name="adj" fmla="val 3030"/>
            </a:avLst>
          </a:prstGeom>
          <a:solidFill>
            <a:srgbClr val="E9F1F9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22960" y="303580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5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FACTS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3493008"/>
            <a:ext cx="4754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code entered at order placement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order total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and fixed-amount codes exist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codes must be rejected with a message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108192" y="2834640"/>
            <a:ext cx="5257800" cy="3017520"/>
          </a:xfrm>
          <a:prstGeom prst="roundRect">
            <a:avLst>
              <a:gd name="adj" fmla="val 3030"/>
            </a:avLst>
          </a:prstGeom>
          <a:solidFill>
            <a:srgbClr val="FCEBE9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382512" y="303580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&amp; QUESTIONS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428232" y="3493008"/>
            <a:ext cx="4754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discount exceeds the total? (finance: never below zero)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stacked codes allowed? (one per order for now)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codes validated / where do they live?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and first-time-customer rules — undefined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05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fabricated Jira IDs, owners, or dates — unknowns are flagged, not invented.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ai-sdlc-demo/assets/boyd-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399032"/>
          </a:xfrm>
          <a:prstGeom prst="rect">
            <a:avLst/>
          </a:prstGeom>
        </p:spPr>
      </p:pic>
      <p:pic>
        <p:nvPicPr>
          <p:cNvPr id="3" name="Image 1" descr="/root/ai-sdlc-demo/assets/boyd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27648"/>
            <a:ext cx="1371600" cy="34747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430000" y="635508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5361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5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guardrails</a:t>
            </a:r>
            <a:endParaRPr lang="en-US" sz="31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194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safe to put in front of a team.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48640" y="283464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EEF3F8"/>
          </a:solidFill>
          <a:ln w="12700">
            <a:solidFill>
              <a:srgbClr val="D3E0EC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4672" y="3264408"/>
            <a:ext cx="566928" cy="566928"/>
          </a:xfrm>
          <a:prstGeom prst="ellipse">
            <a:avLst/>
          </a:prstGeom>
          <a:solidFill>
            <a:srgbClr val="00539B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04672" y="3264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572768" y="30358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5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 before changing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1572768" y="3456432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real code and patterns first; prefers existing conventions over new frameworks.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08192" y="283464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EEF3F8"/>
          </a:solidFill>
          <a:ln w="12700">
            <a:solidFill>
              <a:srgbClr val="D3E0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64224" y="3264408"/>
            <a:ext cx="566928" cy="566928"/>
          </a:xfrm>
          <a:prstGeom prst="ellipse">
            <a:avLst/>
          </a:prstGeom>
          <a:solidFill>
            <a:srgbClr val="00539B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364224" y="3264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7132320" y="30358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5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 vs assumptions</a:t>
            </a:r>
            <a:endParaRPr lang="en-US" sz="1650" dirty="0"/>
          </a:p>
        </p:txBody>
      </p:sp>
      <p:sp>
        <p:nvSpPr>
          <p:cNvPr id="16" name="Text 12"/>
          <p:cNvSpPr txBox="1"/>
          <p:nvPr/>
        </p:nvSpPr>
        <p:spPr>
          <a:xfrm>
            <a:off x="7132320" y="3456432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presents a guess as truth; missing details are flagged as TBD, not invented.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452628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EEF3F8"/>
          </a:solidFill>
          <a:ln w="12700">
            <a:solidFill>
              <a:srgbClr val="D3E0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04672" y="4956048"/>
            <a:ext cx="566928" cy="566928"/>
          </a:xfrm>
          <a:prstGeom prst="ellipse">
            <a:avLst/>
          </a:prstGeom>
          <a:solidFill>
            <a:srgbClr val="00539B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04672" y="4956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1572768" y="47274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5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stays in the seat</a:t>
            </a:r>
            <a:endParaRPr lang="en-US" sz="1650" dirty="0"/>
          </a:p>
        </p:txBody>
      </p:sp>
      <p:sp>
        <p:nvSpPr>
          <p:cNvPr id="21" name="Text 17"/>
          <p:cNvSpPr txBox="1"/>
          <p:nvPr/>
        </p:nvSpPr>
        <p:spPr>
          <a:xfrm>
            <a:off x="1572768" y="5148072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designs end with an explicit approve / needs-revision decision for a person.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108192" y="452628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EEF3F8"/>
          </a:solidFill>
          <a:ln w="12700">
            <a:solidFill>
              <a:srgbClr val="D3E0E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364224" y="4956048"/>
            <a:ext cx="566928" cy="566928"/>
          </a:xfrm>
          <a:prstGeom prst="ellipse">
            <a:avLst/>
          </a:prstGeom>
          <a:solidFill>
            <a:srgbClr val="00539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364224" y="4956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Text 21"/>
          <p:cNvSpPr txBox="1"/>
          <p:nvPr/>
        </p:nvSpPr>
        <p:spPr>
          <a:xfrm>
            <a:off x="7132320" y="47274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5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secrets, no prod</a:t>
            </a:r>
            <a:endParaRPr lang="en-US" sz="1650" dirty="0"/>
          </a:p>
        </p:txBody>
      </p:sp>
      <p:sp>
        <p:nvSpPr>
          <p:cNvPr id="26" name="Text 22"/>
          <p:cNvSpPr txBox="1"/>
          <p:nvPr/>
        </p:nvSpPr>
        <p:spPr>
          <a:xfrm>
            <a:off x="7132320" y="5148072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hardcode credentials or deploy / merge / delete production resources unless authorized.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ai-sdlc-demo/assets/boyd-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399032"/>
          </a:xfrm>
          <a:prstGeom prst="rect">
            <a:avLst/>
          </a:prstGeom>
        </p:spPr>
      </p:pic>
      <p:pic>
        <p:nvPicPr>
          <p:cNvPr id="3" name="Image 1" descr="/root/ai-sdlc-demo/assets/boyd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27648"/>
            <a:ext cx="1371600" cy="34747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430000" y="635508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5361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5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them Boyd-specific</a:t>
            </a:r>
            <a:endParaRPr lang="en-US" sz="31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194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 ships as safe, generic templates. Three moves turn it into your team's playbook.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640080" y="2788920"/>
            <a:ext cx="603504" cy="603504"/>
          </a:xfrm>
          <a:prstGeom prst="ellipse">
            <a:avLst/>
          </a:prstGeom>
          <a:solidFill>
            <a:srgbClr val="00539B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40080" y="27889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1463040" y="27706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5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in the standards file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257800" y="2715768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[ADD] placeholders in references/boyd-enterprise-standards.md with approved coding, security, testing, API, and CI/CD standards. The skills then treat them as authoritative.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886200"/>
            <a:ext cx="603504" cy="603504"/>
          </a:xfrm>
          <a:prstGeom prst="ellipse">
            <a:avLst/>
          </a:prstGeom>
          <a:solidFill>
            <a:srgbClr val="EE3524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40080" y="3886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86791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5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approved tools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5257800" y="3813048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Claude Code has access to Jira, Confluence, GitHub/GitLab, or CI/CD, the skills use that context when a ticket, PR, or page is explicitly referenced.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983480"/>
            <a:ext cx="603504" cy="603504"/>
          </a:xfrm>
          <a:prstGeom prst="ellipse">
            <a:avLst/>
          </a:prstGeom>
          <a:solidFill>
            <a:srgbClr val="00539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40080" y="4983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1463040" y="496519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5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it for the team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5257800" y="4910328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pack into a shared engineering repo so everyone gets the same reviewed skills — governed, not ad-hoc.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53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ai-sdlc-demo/assets/boyd-titl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root/ai-sdlc-demo/assets/boyd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566928"/>
            <a:ext cx="2962656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0" y="28803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this week</a:t>
            </a:r>
            <a:endParaRPr lang="en-US" sz="3800" dirty="0"/>
          </a:p>
        </p:txBody>
      </p:sp>
      <p:sp>
        <p:nvSpPr>
          <p:cNvPr id="5" name="Text 1"/>
          <p:cNvSpPr txBox="1"/>
          <p:nvPr/>
        </p:nvSpPr>
        <p:spPr>
          <a:xfrm>
            <a:off x="3657600" y="38862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  </a:t>
            </a:r>
            <a:pPr algn="r" indent="0" marL="0">
              <a:buNone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.claude folder into any repo — or into ~/.claude/skills for all projects.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3657600" y="44531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demo   </a:t>
            </a:r>
            <a:pPr algn="r" indent="0" marL="0">
              <a:buNone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Claude Code in sample-repo/order-service and follow DEMO-RUNBOOK.md.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3657600" y="502005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Customize   </a:t>
            </a:r>
            <a:pPr algn="r" indent="0" marL="0">
              <a:buNone/>
            </a:pPr>
            <a:r>
              <a:rPr lang="en-US" sz="13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Boyd standards file and connect your Jira / GitHub / CI.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3657600" y="5806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ticket. Twelve stages. Reviewed, tested, documented, and gated.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across the SDLC</dc:title>
  <dc:subject>PptxGenJS Presentation</dc:subject>
  <dc:creator>AI SDLC Demo</dc:creator>
  <cp:lastModifiedBy>AI SDLC Demo</cp:lastModifiedBy>
  <cp:revision>1</cp:revision>
  <dcterms:created xsi:type="dcterms:W3CDTF">2026-09-04T02:54:11Z</dcterms:created>
  <dcterms:modified xsi:type="dcterms:W3CDTF">2026-09-04T02:54:11Z</dcterms:modified>
</cp:coreProperties>
</file>